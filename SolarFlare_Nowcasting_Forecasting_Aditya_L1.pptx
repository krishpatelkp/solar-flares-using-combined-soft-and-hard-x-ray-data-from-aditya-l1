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gradFill rotWithShape="1">
            <a:gsLst>
              <a:gs pos="0">
                <a:srgbClr val="081220"/>
              </a:gs>
              <a:gs pos="100000">
                <a:srgbClr val="0D1A2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548640"/>
            <a:ext cx="256032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PROBLEM STATEMENT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Sovereign Space Weather</a:t>
            </a:r>
          </a:p>
          <a:p>
            <a:pPr algn="l">
              <a:lnSpc>
                <a:spcPts val="4680"/>
              </a:lnSpc>
              <a:spcAft>
                <a:spcPts val="200"/>
              </a:spcAft>
              <a:defRPr sz="3600" b="1">
                <a:solidFill>
                  <a:srgbClr val="F47216"/>
                </a:solidFill>
                <a:latin typeface="Calibri"/>
              </a:defRPr>
            </a:pPr>
            <a:r>
              <a:t>Resilience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40"/>
              </a:lnSpc>
              <a:spcAft>
                <a:spcPts val="2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Automated Nowcasting &amp; Forecasting of Solar Flares</a:t>
            </a:r>
          </a:p>
          <a:p>
            <a:pPr algn="l">
              <a:lnSpc>
                <a:spcPts val="2340"/>
              </a:lnSpc>
              <a:spcAft>
                <a:spcPts val="2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Utilizing Aditya-L1 X-Ray Payloads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3200400" cy="27432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45720" cy="32004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🛰️  ISRO Aditya-L1 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17720"/>
            <a:ext cx="45720" cy="3200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📡  SoLEXS + HEL1OS Payloads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20640"/>
            <a:ext cx="45720" cy="320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🧠  AI/ML Forecasting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7216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Satellites</a:t>
            </a:r>
            <a:br/>
            <a:r>
              <a:t>Protected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623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7216"/>
                </a:solidFill>
                <a:latin typeface="Calibri"/>
              </a:defRPr>
            </a:pPr>
            <a:r>
              <a:t>8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989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Warning</a:t>
            </a:r>
            <a:br/>
            <a:r>
              <a:t>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623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7216"/>
                </a:solidFill>
                <a:latin typeface="Calibri"/>
              </a:defRPr>
            </a:pPr>
            <a:r>
              <a:t>₹1000 Cr+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989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Infrastructure</a:t>
            </a:r>
            <a:br/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5623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7216"/>
                </a:solidFill>
                <a:latin typeface="Calibri"/>
              </a:defRPr>
            </a:pPr>
            <a:r>
              <a:t>5–15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19" y="5989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Prediction</a:t>
            </a:r>
            <a:br/>
            <a:r>
              <a:t>Lead Time</a:t>
            </a:r>
          </a:p>
        </p:txBody>
      </p:sp>
      <p:pic>
        <p:nvPicPr>
          <p:cNvPr id="24" name="Picture 23" descr="aditya_l1_hero_1782635660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74320"/>
            <a:ext cx="5303520" cy="6217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Calibri"/>
              </a:defRPr>
            </a:pPr>
            <a:r>
              <a:t>Indian Space Research Organisation  |  Department of Space  |  Government of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PRESENTATION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Comprehensive Technical Blueprint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188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Strategic Imperative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898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Why sovereign space weather forecasting is critical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8308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10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783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Mission &amp; Instrumentation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9842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Aditya-L1, SoLEXS &amp; HEL1OS specifications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37744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04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377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5786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Infrastructure risk quantification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7180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992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971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Solar Flare Physics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1729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Thermal &amp; non-thermal emission mechanisms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6616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93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Flare 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76732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GOES A/B/C/M/X classification system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6052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1879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Dataset Acquisition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3616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PRADAN portal + supplementary data 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75488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823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Engineering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956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Parsing, synchronization &amp; augmentation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4924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76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Nowcasting Algorithm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5504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Real-time detection &amp; master catalogue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94360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971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943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HOPE Precursor Technique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61447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Hot Onset Precursor Event physics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118872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12161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1188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Forecasting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3898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1D-CNN + BiLSTM + Transformer architecture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178308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1810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1783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19842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End-to-end pipeline &amp; dashboard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237744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2404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2377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25786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TSS, HSS, POD, FAR benchmarks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297180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29992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2971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31729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Open-source tools &amp; frameworks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09360" y="356616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3593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3720" y="376732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Deliverables &amp; strategic value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09360" y="416052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41879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03720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20" y="43616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15-week phased execution plan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9360" y="475488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47823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372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Sources Registry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4956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All referenced datasets &amp; URLs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09360" y="5349240"/>
            <a:ext cx="457200" cy="41148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5376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0372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Strategic Conclusions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55504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STRATEGIC IMPERATIVE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Why Sovereign Space Weather Forecasting is Critical for National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303520" cy="11887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54864" cy="118872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🛰️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3441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16"/>
                </a:solidFill>
                <a:latin typeface="Calibri"/>
              </a:defRPr>
            </a:pPr>
            <a:r>
              <a:t>Satellite Vulnerability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50+ critical assets (NavIC, INSAT, GSAT)</a:t>
            </a:r>
            <a:br/>
            <a:r>
              <a:t>require real-time protection from</a:t>
            </a:r>
            <a:br/>
            <a:r>
              <a:t>radiation-induced anomalies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0320"/>
            <a:ext cx="5303520" cy="11887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54864" cy="11887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4444"/>
                </a:solidFill>
                <a:latin typeface="Calibri"/>
              </a:defRPr>
            </a:pPr>
            <a:r>
              <a:t>Power Grid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71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Geomagnetically Induced Currents (GIC)</a:t>
            </a:r>
            <a:br/>
            <a:r>
              <a:t>can cause catastrophic transformer</a:t>
            </a:r>
            <a:br/>
            <a:r>
              <a:t>damage in terrestrial power grids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5303520" cy="11887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86200"/>
            <a:ext cx="54864" cy="118872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959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E88D3"/>
                </a:solidFill>
                <a:latin typeface="Calibri"/>
              </a:defRPr>
            </a:pPr>
            <a:r>
              <a:t>Communications Blackout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97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X-class flares cause R4-R5 radio blackouts,</a:t>
            </a:r>
            <a:br/>
            <a:r>
              <a:t>crippling HF communications critical</a:t>
            </a:r>
            <a:br/>
            <a:r>
              <a:t>for aviation &amp; defense operations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12079"/>
            <a:ext cx="5303520" cy="11887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212079"/>
            <a:ext cx="54864" cy="1188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3492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2180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Navigation Disruption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23559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Ionospheric delays of 9–20 meters during</a:t>
            </a:r>
            <a:br/>
            <a:r>
              <a:t>major events cripple GPS/NavIC</a:t>
            </a:r>
            <a:br/>
            <a:r>
              <a:t>precision for civil &amp; military 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234440"/>
            <a:ext cx="5394960" cy="1554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4173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7216"/>
                </a:solidFill>
                <a:latin typeface="Calibri"/>
              </a:defRPr>
            </a:pPr>
            <a:r>
              <a:t>₹1,000+ Cr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920240"/>
            <a:ext cx="228600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0574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Estimated economic impact of</a:t>
            </a:r>
            <a:br/>
            <a:r>
              <a:t>a single unmitigated X-class event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017520"/>
            <a:ext cx="5394960" cy="1554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200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7216"/>
                </a:solidFill>
                <a:latin typeface="Calibri"/>
              </a:defRPr>
            </a:pPr>
            <a:r>
              <a:t>~8 Minutes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703320"/>
            <a:ext cx="228600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8404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Time for solar radiation to</a:t>
            </a:r>
            <a:br/>
            <a:r>
              <a:t>traverse Earth-Sun distance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00600"/>
            <a:ext cx="5394960" cy="1554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983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7216"/>
                </a:solidFill>
                <a:latin typeface="Calibri"/>
              </a:defRPr>
            </a:pPr>
            <a:r>
              <a:t>Solar Cycle 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5486400"/>
            <a:ext cx="228600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623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Currently at solar maximum —</a:t>
            </a:r>
            <a:br/>
            <a:r>
              <a:t>peak flare activity period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C107"/>
                </a:solidFill>
                <a:latin typeface="Calibri"/>
              </a:defRPr>
            </a:pPr>
            <a:r>
              <a:t>"Anticipating disruptions is critical for infrastructure safeguarding" — ISRO Problem Statement 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ADITYA-L1 MISSION &amp; INSTRUMENTATION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India's First Dedicated Solar Observatory at Lagrange Point L1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303520" cy="51206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7216"/>
                </a:solidFill>
                <a:latin typeface="Calibri"/>
              </a:defRPr>
            </a:pPr>
            <a:r>
              <a:t>Mission Parameters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37360"/>
            <a:ext cx="438912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E88D3"/>
                </a:solidFill>
                <a:latin typeface="Calibri"/>
              </a:defRPr>
            </a:pPr>
            <a:r>
              <a:t>Launch Date: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September 2, 2023 (PSLV-C57)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E88D3"/>
                </a:solidFill>
                <a:latin typeface="Calibri"/>
              </a:defRPr>
            </a:pPr>
            <a:r>
              <a:t>L1 Insertion: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January 6,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E88D3"/>
                </a:solidFill>
                <a:latin typeface="Calibri"/>
              </a:defRPr>
            </a:pPr>
            <a:r>
              <a:t>Orbit: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Halo orbit at Sun-Earth 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E88D3"/>
                </a:solidFill>
                <a:latin typeface="Calibri"/>
              </a:defRPr>
            </a:pPr>
            <a:r>
              <a:t>Distance: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~1.5 million km from Earth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E88D3"/>
                </a:solidFill>
                <a:latin typeface="Calibri"/>
              </a:defRPr>
            </a:pPr>
            <a:r>
              <a:t>Payloads: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7 indigenous scientific instruments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E88D3"/>
                </a:solidFill>
                <a:latin typeface="Calibri"/>
              </a:defRPr>
            </a:pPr>
            <a:r>
              <a:t>Vantage: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Continuous, uninterrupted solar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E88D3"/>
                </a:solidFill>
                <a:latin typeface="Calibri"/>
              </a:defRPr>
            </a:pPr>
            <a:r>
              <a:t>Data Released: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937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23+ TB into public domain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486400"/>
            <a:ext cx="4754880" cy="640080"/>
          </a:xfrm>
          <a:prstGeom prst="roundRect">
            <a:avLst/>
          </a:prstGeom>
          <a:solidFill>
            <a:srgbClr val="0E3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5321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C9A7"/>
                </a:solidFill>
                <a:latin typeface="Calibri"/>
              </a:defRPr>
            </a:pPr>
            <a:r>
              <a:t>✅ Eliminates atmospheric absorption &amp; geomagnetic shielding</a:t>
            </a:r>
            <a:br/>
            <a:r>
              <a:t>✅ 24/7 uninterrupted solar surveillance from L1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234440"/>
            <a:ext cx="2606040" cy="51206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234440"/>
            <a:ext cx="2606040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4173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7216"/>
                </a:solidFill>
                <a:latin typeface="Calibri"/>
              </a:defRPr>
            </a:pPr>
            <a:r>
              <a:t>SoLEXS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737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Soft X-ray Spectrometer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Energy: 2–22 keV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Detector: Si Drift (SDD)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916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Area: 7.1 mm² + 0.1 mm²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300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Resolution: ~170 eV @ 5.9 keV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685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Cadence: 1-second spectra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Target: Thermal coronal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53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      plasma heating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37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Developed: URSC Bengaluru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1234440"/>
            <a:ext cx="2606040" cy="51206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1234440"/>
            <a:ext cx="2606040" cy="54864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14173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E88D3"/>
                </a:solidFill>
                <a:latin typeface="Calibri"/>
              </a:defRPr>
            </a:pPr>
            <a:r>
              <a:t>HEL1OS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1737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Hard X-ray Spectrometer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Energy: 10–150 keV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Detector: CdTe + CZT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2916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Area: 0.5 cm² + 32 cm²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3300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Resolution: ~1 keV @ 14 keV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685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Cadence: Event-mode (μs)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Target: Non-thermal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453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      bremsstrahlung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837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Developed: SAG/URSC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49640" y="3200400"/>
            <a:ext cx="548640" cy="54864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9640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7216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SOLAR FLARE PHYSICS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Thermal &amp; Non-Thermal X-Ray Emission Mechanisms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olar_flare_sun_17826357186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4572000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94960" y="1234440"/>
            <a:ext cx="6035040" cy="14173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4960" y="1234440"/>
            <a:ext cx="54864" cy="141732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7216"/>
                </a:solidFill>
                <a:latin typeface="Calibri"/>
              </a:defRPr>
            </a:pPr>
            <a:r>
              <a:t>Thermal Regime — Soft X-rays (1–22 keV)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6459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Emission from multi-million degree coronal plasma</a:t>
            </a:r>
            <a:br/>
            <a:r>
              <a:t>• Quiescent corona: 1–3 MK → Flare plasma: 10–35 MK</a:t>
            </a:r>
            <a:br/>
            <a:r>
              <a:t>• Primary metric for flare magnitude classification</a:t>
            </a:r>
            <a:br/>
            <a:r>
              <a:t>• Gradual rise and decay profile (thermal timescale)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834640"/>
            <a:ext cx="6035040" cy="14173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94960" y="2834640"/>
            <a:ext cx="54864" cy="141732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926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E88D3"/>
                </a:solidFill>
                <a:latin typeface="Calibri"/>
              </a:defRPr>
            </a:pPr>
            <a:r>
              <a:t>Non-Thermal Regime — Hard X-rays (10–150 keV)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461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Impulsive bremsstrahlung from accelerated electrons</a:t>
            </a:r>
            <a:br/>
            <a:r>
              <a:t>• Thick-target radiation at chromospheric footpoints</a:t>
            </a:r>
            <a:br/>
            <a:r>
              <a:t>• Direct indicator of explosive energy release</a:t>
            </a:r>
            <a:br/>
            <a:r>
              <a:t>• Exhibits Quasi-Periodic Pulsations (QPPs)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11064240" cy="16002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63440"/>
            <a:ext cx="110642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⚡ The Neupert Effect — Key Physical Coupling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The rate of increase of Soft X-ray flux is directly</a:t>
            </a:r>
            <a:br/>
            <a:r>
              <a:t>proportional to the instantaneous Hard X-ray flux.</a:t>
            </a:r>
            <a:br/>
            <a:br/>
            <a:r>
              <a:t>F_SXR(t) ∝ ∫ F_HXR(t') dt'   →   dF_SXR/dt ∝ F_HXR(t)</a:t>
            </a:r>
            <a:br/>
            <a:br/>
            <a:r>
              <a:t>This serves as the PRIMARY cross-validation mechanism</a:t>
            </a:r>
            <a:br/>
            <a:r>
              <a:t>for the nowcasting pipeline.</a:t>
            </a:r>
          </a:p>
        </p:txBody>
      </p:sp>
      <p:pic>
        <p:nvPicPr>
          <p:cNvPr id="21" name="Picture 20" descr="neupert_effect_diagram_17826356716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800600"/>
            <a:ext cx="4754880" cy="1371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SOLAR FLARE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GOES X-Ray Flux Standard (1–8 Å Band)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Flare Class</a:t>
                      </a:r>
                    </a:p>
                  </a:txBody>
                  <a:tcPr anchor="ctr">
                    <a:solidFill>
                      <a:srgbClr val="F472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Peak Flux (W/m²)</a:t>
                      </a:r>
                    </a:p>
                  </a:txBody>
                  <a:tcPr anchor="ctr">
                    <a:solidFill>
                      <a:srgbClr val="F472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Description</a:t>
                      </a:r>
                    </a:p>
                  </a:txBody>
                  <a:tcPr anchor="ctr">
                    <a:solidFill>
                      <a:srgbClr val="F472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Space Weather Impact</a:t>
                      </a:r>
                    </a:p>
                  </a:txBody>
                  <a:tcPr anchor="ctr">
                    <a:solidFill>
                      <a:srgbClr val="F4721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&lt; 10⁻⁷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Micro-flares; baseline background level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 terrestrial effect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10⁻⁷ – 10⁻⁶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Very minor localized active region heating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 significant effect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C107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10⁻⁶ – 10⁻⁵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Minor flare events with limited coronal heating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Brief HF radio degradation (R1)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47216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10⁻⁵ – 10⁻⁴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Medium-large flares; often with CMEs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R2-R3 blackouts; minor storms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4444"/>
                          </a:solidFill>
                          <a:latin typeface="Calibri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≥ 10⁻⁴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Extreme events; severe infrastructure risk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R4-R5 blackouts; GIC damage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577840"/>
            <a:ext cx="11064240" cy="822960"/>
          </a:xfrm>
          <a:prstGeom prst="roundRect">
            <a:avLst/>
          </a:prstGeom>
          <a:solidFill>
            <a:srgbClr val="0E3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C107"/>
                </a:solidFill>
                <a:latin typeface="Calibri"/>
              </a:defRPr>
            </a:pPr>
            <a:r>
              <a:t>⚠️  KEY: Each class represents a 10× increase in peak flux. The pipeline must detect ALL classes (A through X) while maintaining high True Positive Rate for M and X-class events — the classes with severe infrastructure impact. Extreme class imbalance (X-class events are ~100× rarer) demands specialized loss functions.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DATASET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Primary &amp; Supplementary Data Sources for Model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303520" cy="22860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5303520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16"/>
                </a:solidFill>
                <a:latin typeface="Calibri"/>
              </a:defRPr>
            </a:pPr>
            <a:r>
              <a:t>🛰️  PRIMARY DATA — ISRO PRADAN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Portal: pradan.issdc.gov.in/al1</a:t>
            </a:r>
            <a:br/>
            <a:br/>
            <a:r>
              <a:t>• SoLEXS Level-1 FITS — 1-sec cadence SXR spectra</a:t>
            </a:r>
            <a:br/>
            <a:r>
              <a:t>• HEL1OS Level-1 FITS — Event-mode HXR photon list</a:t>
            </a:r>
            <a:br/>
            <a:r>
              <a:t>• SolexsLOODS processing software included</a:t>
            </a:r>
            <a:br/>
            <a:r>
              <a:t>• 23+ TB released into public domain</a:t>
            </a:r>
            <a:br/>
            <a:r>
              <a:t>• Registration required; Chrome recommended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7216"/>
                </a:solidFill>
                <a:latin typeface="Calibri"/>
              </a:defRPr>
            </a:pPr>
            <a:r>
              <a:t>SUPPLEMENTARY DATA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02920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1600200" cy="1554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1600200" cy="36576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E88D3"/>
                </a:solidFill>
                <a:latin typeface="Calibri"/>
              </a:defRPr>
            </a:pPr>
            <a:r>
              <a:t>GOES/XRS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945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ngdc.noaa.gov/stp/</a:t>
            </a:r>
            <a:br/>
            <a:r>
              <a:t>satellite/goes/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974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Ground-truth labels</a:t>
            </a:r>
            <a:br/>
            <a:r>
              <a:t>2-sec SXR since 1975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737360"/>
            <a:ext cx="1600200" cy="1554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1737360"/>
            <a:ext cx="16002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8745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RHESSI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1945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hesperia.gsfc.</a:t>
            </a:r>
            <a:br/>
            <a:r>
              <a:t>nasa.gov/rhessi3/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6974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HXR flare catalogue</a:t>
            </a:r>
            <a:br/>
            <a:r>
              <a:t>3-300 keV imaging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737360"/>
            <a:ext cx="1600200" cy="1554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737360"/>
            <a:ext cx="160020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8745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B5CF6"/>
                </a:solidFill>
                <a:latin typeface="Calibri"/>
              </a:defRPr>
            </a:pPr>
            <a:r>
              <a:t>Fermi/GBM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1945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hesperia.gsfc.</a:t>
            </a:r>
            <a:br/>
            <a:r>
              <a:t>nasa.gov/fermi/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6974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Gamma-ray burst</a:t>
            </a:r>
            <a:br/>
            <a:r>
              <a:t>monitor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74720"/>
            <a:ext cx="1600200" cy="1554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474720"/>
            <a:ext cx="1600200" cy="36576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6118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7216"/>
                </a:solidFill>
                <a:latin typeface="Calibri"/>
              </a:defRPr>
            </a:pPr>
            <a:r>
              <a:t>SDO/AIA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9319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sdo.gsfc.</a:t>
            </a:r>
            <a:br/>
            <a:r>
              <a:t>nasa.gov/data/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43484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EUV images &amp;</a:t>
            </a:r>
            <a:br/>
            <a:r>
              <a:t>magnetograms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0" y="3474720"/>
            <a:ext cx="1600200" cy="1554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80" y="3474720"/>
            <a:ext cx="1600200" cy="36576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6118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4444"/>
                </a:solidFill>
                <a:latin typeface="Calibri"/>
              </a:defRPr>
            </a:pPr>
            <a:r>
              <a:t>NOAA SWPC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9319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swpc.noaa.gov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43484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Real-time alerts</a:t>
            </a:r>
            <a:br/>
            <a:r>
              <a:t>&amp; forecasts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3474720"/>
            <a:ext cx="1600200" cy="1554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2640" y="3474720"/>
            <a:ext cx="1600200" cy="36576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0" y="36118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SunPy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9319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docs.sunpy.org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443484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Python API for</a:t>
            </a:r>
            <a:br/>
            <a:r>
              <a:t>all solar data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3749039"/>
            <a:ext cx="5303520" cy="24688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📊  5-STEP DATA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1. Register &amp; authenticate on PRADAN portal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2. Download SoLEXS + HEL1OS Level-1 FITS files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3. Parse with Astropy + SolexsLOODS toolkit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4. Cross-match with GOES ground-truth labels (UTC)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5. Augment with RHESSI/Fermi/SDO supplementary data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5120640"/>
            <a:ext cx="5303520" cy="10972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212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107"/>
                </a:solidFill>
                <a:latin typeface="Calibri"/>
              </a:defRPr>
            </a:pPr>
            <a:r>
              <a:t>📄  KEY INSTRUMENT PAPERS (arXiv)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486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SoLEXS calibration: arxiv.org/abs/2509.26292</a:t>
            </a:r>
            <a:br/>
            <a:r>
              <a:t>• HEL1OS spectrometer: arxiv.org/abs/2512.12679</a:t>
            </a:r>
            <a:br/>
            <a:r>
              <a:t>• HOPE nowcasting: arxiv.org/abs/2509.05234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 ENGINEERING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Level-1 FITS Parsing, Calibration &amp; Temporal Synchronization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2011680" cy="14630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2011680" cy="4572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721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RAW</a:t>
            </a:r>
            <a:br/>
            <a:r>
              <a:t>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FITS/CDF files</a:t>
            </a:r>
            <a:br/>
            <a:r>
              <a:t>from PRADAN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472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280160"/>
            <a:ext cx="2011680" cy="14630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280160"/>
            <a:ext cx="2011680" cy="4572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41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E88D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BACKGROUND</a:t>
            </a:r>
            <a:br/>
            <a:r>
              <a:t>SUBTRACTION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⁵⁵Fe calibration</a:t>
            </a:r>
            <a:br/>
            <a:r>
              <a:t>Ni/Pb removal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472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280160"/>
            <a:ext cx="2011680" cy="14630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280160"/>
            <a:ext cx="20116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41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C9A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DEADTIME</a:t>
            </a:r>
            <a:br/>
            <a:r>
              <a:t>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Photon pileup</a:t>
            </a:r>
            <a:br/>
            <a:r>
              <a:t>compensation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472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19" y="1280160"/>
            <a:ext cx="2011680" cy="14630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19" y="1280160"/>
            <a:ext cx="201168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59" y="141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5CF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TEMPORAL</a:t>
            </a:r>
            <a:br/>
            <a:r>
              <a:t>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1-sec grid</a:t>
            </a:r>
            <a:br/>
            <a:r>
              <a:t>resample HXR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79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472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1280160"/>
            <a:ext cx="2011680" cy="14630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2640" y="1280160"/>
            <a:ext cx="2011680" cy="457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141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444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GROUND TRUTH</a:t>
            </a:r>
            <a:br/>
            <a:r>
              <a:t>LABELING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GOES class</a:t>
            </a:r>
            <a:br/>
            <a:r>
              <a:t>UTC matching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017520"/>
            <a:ext cx="3520440" cy="32004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017520"/>
            <a:ext cx="45720" cy="32004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7216"/>
                </a:solidFill>
                <a:latin typeface="Calibri"/>
              </a:defRPr>
            </a:pPr>
            <a:r>
              <a:t>HYPERMET Detector Response Model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3474720"/>
            <a:ext cx="301752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35661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SoLEXS response modeled as superposition of:</a:t>
            </a:r>
            <a:br/>
            <a:r>
              <a:t>• Main Gaussian Peak — true photon absorption</a:t>
            </a:r>
            <a:br/>
            <a:r>
              <a:t>• Si Escape Peak — 1.74 keV below main peak</a:t>
            </a:r>
            <a:br/>
            <a:r>
              <a:t>• Exponential Tail — incomplete charge collection</a:t>
            </a:r>
            <a:br/>
            <a:r>
              <a:t>• Shelf Component — flat low-energy continuum</a:t>
            </a:r>
            <a:br/>
            <a:br/>
            <a:r>
              <a:t>In-flight calibration via ⁵⁵Fe source + Ti foil</a:t>
            </a:r>
            <a:br/>
            <a:r>
              <a:t>producing Mn Kα (5.89 keV) &amp; Kβ (6.49 keV) lines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3017520"/>
            <a:ext cx="3520440" cy="32004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017520"/>
            <a:ext cx="45720" cy="320040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E88D3"/>
                </a:solidFill>
                <a:latin typeface="Calibri"/>
              </a:defRPr>
            </a:pPr>
            <a:r>
              <a:t>HEL1OS Fixed Filtration Advantage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6280" y="3474720"/>
            <a:ext cx="3017520" cy="18288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35661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Unlike RHESSI/STIX which use movable attenuators:</a:t>
            </a:r>
            <a:br/>
            <a:r>
              <a:t>• HEL1OS uses FIXED stainless steel mesh collimator</a:t>
            </a:r>
            <a:br/>
            <a:r>
              <a:t>• No artificial discontinuities in light curves</a:t>
            </a:r>
            <a:br/>
            <a:r>
              <a:t>• Critical for ML pipeline — prevents false triggers</a:t>
            </a:r>
            <a:br/>
            <a:r>
              <a:t>• Enables robust QPP detection &amp; detrending</a:t>
            </a:r>
            <a:br/>
            <a:br/>
            <a:r>
              <a:t>CdTe detectors cooled to -25°C for optimal</a:t>
            </a:r>
            <a:br/>
            <a:r>
              <a:t>spectral resolution in 10-40 keV transition band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3017520"/>
            <a:ext cx="3520440" cy="32004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3017520"/>
            <a:ext cx="45720" cy="3200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Temporal Synchronization Challenge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1040" y="3474720"/>
            <a:ext cx="3017520" cy="182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35661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SoLEXS: Native 1-second spectral bins</a:t>
            </a:r>
            <a:br/>
            <a:r>
              <a:t>HEL1OS: Event-mode (microsecond timestamps)</a:t>
            </a:r>
            <a:br/>
            <a:br/>
            <a:r>
              <a:t>Solution: High-speed min/max/std pooling</a:t>
            </a:r>
            <a:br/>
            <a:r>
              <a:t>to resample HXR events → 1-sec grid</a:t>
            </a:r>
            <a:br/>
            <a:br/>
            <a:r>
              <a:t>Synchronized UTC axis is PREREQUISITE for</a:t>
            </a:r>
            <a:br/>
            <a:r>
              <a:t>sequential deep learning model ingestion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ALGORITHMIC NOWCASTING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Real-Time Detection, Classification &amp; Master Catalogue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520440" cy="219456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3520440" cy="4572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457200" cy="45720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35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47216"/>
                </a:solidFill>
                <a:latin typeface="Calibri"/>
              </a:defRPr>
            </a:pPr>
            <a:r>
              <a:t>DYNAMIC</a:t>
            </a:r>
            <a:br/>
            <a: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5-min rolling median filter</a:t>
            </a:r>
            <a:br/>
            <a:r>
              <a:t>Compute μ(t) and σ(t)</a:t>
            </a:r>
            <a:br/>
            <a:r>
              <a:t>Robust to cosmic ray spikes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34440"/>
            <a:ext cx="3520440" cy="219456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34440"/>
            <a:ext cx="3520440" cy="4572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1417320"/>
            <a:ext cx="457200" cy="457200"/>
          </a:xfrm>
          <a:prstGeom prst="round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435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E88D3"/>
                </a:solidFill>
                <a:latin typeface="Calibri"/>
              </a:defRPr>
            </a:pPr>
            <a:r>
              <a:t>SIGMA</a:t>
            </a:r>
            <a:br/>
            <a:r>
              <a:t>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0574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Onset: I(t) &gt; μ(t) + 3σ(t)</a:t>
            </a:r>
            <a:br/>
            <a:r>
              <a:t>Debounce: 3 consecutive sec</a:t>
            </a:r>
            <a:br/>
            <a:r>
              <a:t>Eliminate sensor noise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234440"/>
            <a:ext cx="3520440" cy="219456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234440"/>
            <a:ext cx="3520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75320" y="1417320"/>
            <a:ext cx="457200" cy="457200"/>
          </a:xfrm>
          <a:prstGeom prst="round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435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C9A7"/>
                </a:solidFill>
                <a:latin typeface="Calibri"/>
              </a:defRPr>
            </a:pPr>
            <a:r>
              <a:t>RISE-RATE</a:t>
            </a:r>
            <a:br/>
            <a:r>
              <a:t>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0574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Compute dF/dt derivative</a:t>
            </a:r>
            <a:br/>
            <a:r>
              <a:t>Reject gradual brightenings</a:t>
            </a:r>
            <a:br/>
            <a:r>
              <a:t>Confirm impulsive onset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57600"/>
            <a:ext cx="3520440" cy="219456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657600"/>
            <a:ext cx="352044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3840480"/>
            <a:ext cx="45720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840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B5CF6"/>
                </a:solidFill>
                <a:latin typeface="Calibri"/>
              </a:defRPr>
            </a:pPr>
            <a:r>
              <a:t>NEUPERT</a:t>
            </a:r>
            <a:br/>
            <a: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Cross-correlate d(SXR)/dt</a:t>
            </a:r>
            <a:br/>
            <a:r>
              <a:t>with HXR flux signal</a:t>
            </a:r>
            <a:br/>
            <a:r>
              <a:t>True Flare confirmation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657600"/>
            <a:ext cx="3520440" cy="219456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3657600"/>
            <a:ext cx="3520440" cy="457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80560" y="3840480"/>
            <a:ext cx="457200" cy="457200"/>
          </a:xfrm>
          <a:prstGeom prst="round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3840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4444"/>
                </a:solidFill>
                <a:latin typeface="Calibri"/>
              </a:defRPr>
            </a:pPr>
            <a:r>
              <a:t>PEAK</a:t>
            </a:r>
            <a:br/>
            <a:r>
              <a:t>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4805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Track to global maximum</a:t>
            </a:r>
            <a:br/>
            <a:r>
              <a:t>Record t_peak timestamp</a:t>
            </a:r>
            <a:br/>
            <a:r>
              <a:t>Monitor decay phase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3657600"/>
            <a:ext cx="3520440" cy="219456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3657600"/>
            <a:ext cx="3520440" cy="457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75320" y="3840480"/>
            <a:ext cx="457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840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TERMINATION</a:t>
            </a:r>
            <a:br/>
            <a:r>
              <a:t>CRITERIA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4805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Flux &lt; μ_onset + 1σ</a:t>
            </a:r>
            <a:br/>
            <a:r>
              <a:t>Record total duration</a:t>
            </a:r>
            <a:br/>
            <a:r>
              <a:t>Log to catalogue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989320"/>
            <a:ext cx="11064240" cy="685800"/>
          </a:xfrm>
          <a:prstGeom prst="roundRect">
            <a:avLst/>
          </a:prstGeom>
          <a:solidFill>
            <a:srgbClr val="0E3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035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C9A7"/>
                </a:solidFill>
                <a:latin typeface="Calibri"/>
              </a:defRPr>
            </a:pPr>
            <a:r>
              <a:t>📋 UNIFIED MASTER CATALOGUE OUTPUT:  UTC Start/Peak/End  •  Duration  •  Peak SXR &amp; HXR Flux  •  Spectral Indices  •  Equivalent GOES Class  •  Neupert Correlation Score  •  Stored in PostgreSQL + JSON/CSV export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HOPE PRECURSOR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Hot Onset Precursor Event — Physics-Based Pre-Flare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8288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54864" cy="18288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16"/>
                </a:solidFill>
                <a:latin typeface="Calibri"/>
              </a:defRPr>
            </a:pPr>
            <a:r>
              <a:t>What is HOPE?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A physically-driven pre-flare signature identified in dual-channel</a:t>
            </a:r>
            <a:br/>
            <a:r>
              <a:t>soft X-ray data. Before the HXR impulsive phase begins and before</a:t>
            </a:r>
            <a:br/>
            <a:r>
              <a:t>the main SXR flux ramps up, a localized pocket of plasma in the</a:t>
            </a:r>
            <a:br/>
            <a:r>
              <a:t>active region undergoes intense, silent heating.</a:t>
            </a:r>
            <a:br/>
            <a:br/>
            <a:r>
              <a:t>Manifestation window: 5 – 15 minutes BEFORE flare peak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34440"/>
            <a:ext cx="1783080" cy="29260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1783080" cy="4572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47216"/>
                </a:solidFill>
                <a:latin typeface="Calibri"/>
              </a:defRPr>
            </a:pPr>
            <a:r>
              <a:t>Temperature Surge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Plasma T rapidly elevates</a:t>
            </a:r>
            <a:br/>
            <a:r>
              <a:t>from baseline to 10–15 MK</a:t>
            </a:r>
            <a:br/>
            <a:br/>
            <a:r>
              <a:t>'Horizontal branch' in</a:t>
            </a:r>
            <a:br/>
            <a:r>
              <a:t>T-EM diagram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34440"/>
            <a:ext cx="1783080" cy="29260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234440"/>
            <a:ext cx="1783080" cy="4572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E88D3"/>
                </a:solidFill>
                <a:latin typeface="Calibri"/>
              </a:defRPr>
            </a:pPr>
            <a:r>
              <a:t>Emission Measure Spike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24028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Volumetric EM spikes by</a:t>
            </a:r>
            <a:br/>
            <a:r>
              <a:t>~1 order of magnitude</a:t>
            </a:r>
            <a:br/>
            <a:br/>
            <a:r>
              <a:t>Indicates density increase</a:t>
            </a:r>
            <a:br/>
            <a:r>
              <a:t>in coronal loops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234440"/>
            <a:ext cx="1783080" cy="29260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41280" y="1234440"/>
            <a:ext cx="17830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14173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C9A7"/>
                </a:solidFill>
                <a:latin typeface="Calibri"/>
              </a:defRPr>
            </a:pPr>
            <a:r>
              <a:t>Abundance Shift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24028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Low-FIP element abundances</a:t>
            </a:r>
            <a:br/>
            <a:r>
              <a:t>shift to photospheric values</a:t>
            </a:r>
            <a:br/>
            <a:br/>
            <a:r>
              <a:t>Indicates early chromospheric</a:t>
            </a:r>
            <a:br/>
            <a:r>
              <a:t>material injection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91840"/>
            <a:ext cx="5486400" cy="29260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📐  Real-Time Plasma Parameter Derivation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703320"/>
            <a:ext cx="4754880" cy="182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7947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Temperature Derivation (Filter Ratio Method):</a:t>
            </a:r>
            <a:br/>
            <a:r>
              <a:t>  R = F_short / F_long = f(T)  — independent of EM</a:t>
            </a:r>
            <a:br/>
            <a:r>
              <a:t>  Numerical interpolation against CHIANTI lookup tables</a:t>
            </a:r>
            <a:br/>
            <a:r>
              <a:t>  Continuous high-speed computation from SoLEXS bands</a:t>
            </a:r>
            <a:br/>
            <a:br/>
            <a:r>
              <a:t>Emission Measure Calculation:</a:t>
            </a:r>
            <a:br/>
            <a:r>
              <a:t>  EM = F_long / G_long(T)</a:t>
            </a:r>
            <a:br/>
            <a:r>
              <a:t>  Where G_long is temperature-dependent response function</a:t>
            </a:r>
            <a:br/>
            <a:br/>
            <a:r>
              <a:t>HOPE Trigger Condition:</a:t>
            </a:r>
            <a:br/>
            <a:r>
              <a:t>  dT/dt &gt; threshold  AND  ΔEM &gt; 1 order of magnitude</a:t>
            </a:r>
            <a:br/>
            <a:r>
              <a:t>  → Generate Flare Anticipation Index (FAI) alert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389120"/>
            <a:ext cx="5212080" cy="1737360"/>
          </a:xfrm>
          <a:prstGeom prst="roundRect">
            <a:avLst/>
          </a:prstGeom>
          <a:solidFill>
            <a:srgbClr val="0E3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C107"/>
                </a:solidFill>
                <a:latin typeface="Calibri"/>
              </a:defRPr>
            </a:pPr>
            <a:r>
              <a:t>⏱️  DEMONSTRATED LEAD TIMES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920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5–15 minutes before flare peak (20 diverse flares)</a:t>
            </a:r>
            <a:br/>
            <a:r>
              <a:t>• Validated across C, M, and X-class events</a:t>
            </a:r>
            <a:br/>
            <a:r>
              <a:t>• Based on arxiv.org/abs/2509.05234</a:t>
            </a:r>
            <a:br/>
            <a:r>
              <a:t>• SoLEXS dual-band ratio enables real-time T extraction</a:t>
            </a:r>
            <a:br/>
            <a:r>
              <a:t>• Automated HOPE → FAI trigger feeds ML forecaster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FORECASTING MODEL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Hybrid 1D-CNN + BiLSTM + Transformer Deep Learning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l_architecture_17826357086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2560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3977639"/>
            <a:ext cx="2651760" cy="2697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651760" cy="4572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1479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7216"/>
                </a:solidFill>
                <a:latin typeface="Calibri"/>
              </a:defRPr>
            </a:pPr>
            <a:r>
              <a:t>INPUT TENSOR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16551"/>
            <a:ext cx="228600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526279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30–60 min trailing window</a:t>
            </a:r>
            <a:br/>
            <a:r>
              <a:t>1-sec cadence features:</a:t>
            </a:r>
            <a:br/>
            <a:r>
              <a:t>• SoLEXS flux + HEL1OS counts</a:t>
            </a:r>
            <a:br/>
            <a:r>
              <a:t>• dF/dt derivatives</a:t>
            </a:r>
            <a:br/>
            <a:r>
              <a:t>• T(MK) &amp; EM values</a:t>
            </a:r>
            <a:br/>
            <a:r>
              <a:t>• SXR/HXR ratio</a:t>
            </a:r>
            <a:br/>
            <a:r>
              <a:t>• Spectral indices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977639"/>
            <a:ext cx="2651760" cy="2697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3977639"/>
            <a:ext cx="2651760" cy="4572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11479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E88D3"/>
                </a:solidFill>
                <a:latin typeface="Calibri"/>
              </a:defRPr>
            </a:pPr>
            <a:r>
              <a:t>1D-CNN ENCODER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4416551"/>
            <a:ext cx="2286000" cy="18288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526279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Convolutional feature extractor</a:t>
            </a:r>
            <a:br/>
            <a:r>
              <a:t>• Slides across time window</a:t>
            </a:r>
            <a:br/>
            <a:r>
              <a:t>• Detects micro-variations</a:t>
            </a:r>
            <a:br/>
            <a:r>
              <a:t>• Identifies sharp spikes</a:t>
            </a:r>
            <a:br/>
            <a:r>
              <a:t>• Captures inflection points</a:t>
            </a:r>
            <a:br/>
            <a:r>
              <a:t>• Localized pattern matching</a:t>
            </a:r>
            <a:br/>
            <a:r>
              <a:t>• QPP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77639"/>
            <a:ext cx="2651760" cy="2697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977639"/>
            <a:ext cx="265176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1479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BiLSTM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416551"/>
            <a:ext cx="2286000" cy="182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526279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Bidirectional temporal encoder</a:t>
            </a:r>
            <a:br/>
            <a:r>
              <a:t>• Forward + backward pass</a:t>
            </a:r>
            <a:br/>
            <a:r>
              <a:t>• Maps sequential dependencies</a:t>
            </a:r>
            <a:br/>
            <a:r>
              <a:t>• Learns flare morphologies</a:t>
            </a:r>
            <a:br/>
            <a:r>
              <a:t>• Differentiates steep rise vs</a:t>
            </a:r>
            <a:br/>
            <a:r>
              <a:t>  gradual brightening</a:t>
            </a:r>
            <a:br/>
            <a:r>
              <a:t>• Maintains long memory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3977639"/>
            <a:ext cx="2651760" cy="26974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3977639"/>
            <a:ext cx="265176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411479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B5CF6"/>
                </a:solidFill>
                <a:latin typeface="Calibri"/>
              </a:defRPr>
            </a:pPr>
            <a:r>
              <a:t>TRANSFORMER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4416551"/>
            <a:ext cx="2286000" cy="182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526279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Multi-head self-attention</a:t>
            </a:r>
            <a:br/>
            <a:r>
              <a:t>• Resolves vanishing gradients</a:t>
            </a:r>
            <a:br/>
            <a:r>
              <a:t>• Attends to specific moments</a:t>
            </a:r>
            <a:br/>
            <a:r>
              <a:t>• Correlates HOPE spike (t-14m)</a:t>
            </a:r>
            <a:br/>
            <a:r>
              <a:t>  with current HXR rise</a:t>
            </a:r>
            <a:br/>
            <a:r>
              <a:t>• Attention maps → interpretable</a:t>
            </a:r>
            <a:br/>
            <a:r>
              <a:t>• Time-to-peak estimation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HANDLING CLASS IMBALANCE &amp; MODEL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Focal Loss, SMOTE Augmentation &amp; Dual-Output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303520" cy="201168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54864" cy="201168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4444"/>
                </a:solidFill>
                <a:latin typeface="Calibri"/>
              </a:defRPr>
            </a:pPr>
            <a:r>
              <a:t>⚠️  The Class Imbalance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Solar activity follows a power-law distribution:</a:t>
            </a:r>
            <a:br/>
            <a:br/>
            <a:r>
              <a:t>• A/B/C-class flares: Ubiquitous — occur daily</a:t>
            </a:r>
            <a:br/>
            <a:r>
              <a:t>• M-class flares: Moderate — weekly during solar max</a:t>
            </a:r>
            <a:br/>
            <a:r>
              <a:t>• X-class flares: Extremely rare — ~100× less frequent</a:t>
            </a:r>
            <a:br/>
            <a:br/>
            <a:r>
              <a:t>Standard Cross-Entropy loss → model predicts 'No severe flare'</a:t>
            </a:r>
            <a:br/>
            <a:r>
              <a:t>Result: Statistically accurate but OPERATIONALLY USELESS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5303520" cy="25603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54864" cy="256032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16"/>
                </a:solidFill>
                <a:latin typeface="Calibri"/>
              </a:defRPr>
            </a:pPr>
            <a:r>
              <a:t>🎯  Solution: Focal Loss + SMOTE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Focal Loss adds modulating factor (1-p_t)^γ:</a:t>
            </a:r>
            <a:br/>
            <a:br/>
            <a:r>
              <a:t>FL(p_t) = -α_t (1 - p_t)^γ  log(p_t)</a:t>
            </a:r>
            <a:br/>
            <a:br/>
            <a:r>
              <a:t>• Heavily penalizes missed X/M-class flares (FN)</a:t>
            </a:r>
            <a:br/>
            <a:r>
              <a:t>• Down-weights easy background classifications</a:t>
            </a:r>
            <a:br/>
            <a:r>
              <a:t>• γ parameter tuned via Optuna hyperparameter search</a:t>
            </a:r>
            <a:br/>
            <a:br/>
            <a:r>
              <a:t>SMOTE (Synthetic Minority Over-sampling):</a:t>
            </a:r>
            <a:br/>
            <a:r>
              <a:t>• Time-series adapted synthetic augmentation</a:t>
            </a:r>
            <a:br/>
            <a:r>
              <a:t>• Balances severity distributions in training batches</a:t>
            </a:r>
            <a:br/>
            <a:r>
              <a:t>• Via imbalanced-learn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234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E88D3"/>
                </a:solidFill>
                <a:latin typeface="Calibri"/>
              </a:defRPr>
            </a:pPr>
            <a:r>
              <a:t>MODEL DUAL OUTPUTS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5212080" cy="18288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737360"/>
            <a:ext cx="5212080" cy="19202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737360"/>
            <a:ext cx="5212080" cy="4572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20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E88D3"/>
                </a:solidFill>
                <a:latin typeface="Calibri"/>
              </a:defRPr>
            </a:pPr>
            <a:r>
              <a:t>📊  Probability Vector (Classification)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860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P(flare | next N minutes)</a:t>
            </a:r>
            <a:br/>
            <a:br/>
            <a:r>
              <a:t>• Multi-horizon: N = 5, 15, 30 minutes</a:t>
            </a:r>
            <a:br/>
            <a:r>
              <a:t>• Per-class probabilities: C, M, X</a:t>
            </a:r>
            <a:br/>
            <a:r>
              <a:t>• Softmax output layer</a:t>
            </a:r>
            <a:br/>
            <a:r>
              <a:t>• Threshold-tunable for operational sensitivity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840480"/>
            <a:ext cx="52120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C9A7"/>
                </a:solidFill>
                <a:latin typeface="Calibri"/>
              </a:defRPr>
            </a:pPr>
            <a:r>
              <a:t>⏱️  Lead Time Regression (Continuous)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891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t_remaining = time to peak intensity</a:t>
            </a:r>
            <a:br/>
            <a:br/>
            <a:r>
              <a:t>• Continuous regression output (minutes)</a:t>
            </a:r>
            <a:br/>
            <a:r>
              <a:t>• Quantifies warning buffer for operators</a:t>
            </a:r>
            <a:br/>
            <a:r>
              <a:t>• Linear output layer with MAE loss</a:t>
            </a:r>
            <a:br/>
            <a:r>
              <a:t>• Target: ≥ 5 minutes average lead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ARCHITECTURE &amp;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End-to-End Operational Pipeline with Real-Time Visualization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mockup_1782635685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5577840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1234440"/>
            <a:ext cx="5212080" cy="7315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34440"/>
            <a:ext cx="45720" cy="73152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47216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63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73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PRADAN API polling → FITS parsing → Background subtraction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03120"/>
            <a:ext cx="5212080" cy="7315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03120"/>
            <a:ext cx="45720" cy="73152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E88D3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SIGNAL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5420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Temporal alignment → Dynamic baseline → Derivative computation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71800"/>
            <a:ext cx="5212080" cy="7315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71800"/>
            <a:ext cx="45720" cy="7315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C9A7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NOWCASTING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107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Sigma trigger → Neupert validation → Master catalogue update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79"/>
            <a:ext cx="5212080" cy="7315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40479"/>
            <a:ext cx="45720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8619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B5CF6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690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FORECASTING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7939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HOPE extraction → Feature tensor → CNN+BiLSTM+Transformer inference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09160"/>
            <a:ext cx="5212080" cy="7315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709160"/>
            <a:ext cx="45720" cy="7315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4444"/>
                </a:solidFill>
                <a:latin typeface="Calibri"/>
              </a:defRPr>
            </a:pPr>
            <a:r>
              <a:t>LAYER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ALERT &amp; VISUALIZATION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480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Dashboard rendering → Alert generation → Operator notification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4617720"/>
            <a:ext cx="5577840" cy="16459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663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47216"/>
                </a:solidFill>
                <a:latin typeface="Calibri"/>
              </a:defRPr>
            </a:pPr>
            <a:r>
              <a:t>DASHBOARD — 3 OPERATIONAL TIERS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937760"/>
            <a:ext cx="502920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5029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1. Live Telemetry: Dual-panel log-scaled SXR+HXR light curves, 30-min rolling window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394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2. Nowcast &amp; Alert: GOES-class badge, duration tracker, Neupert correlation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760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3. Forecast &amp; Precursor: T(MK) &amp; EM plots, probability bars for 5/10/30-min horizons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989320"/>
            <a:ext cx="5212080" cy="640080"/>
          </a:xfrm>
          <a:prstGeom prst="roundRect">
            <a:avLst/>
          </a:prstGeom>
          <a:solidFill>
            <a:srgbClr val="0E3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035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C9A7"/>
                </a:solidFill>
                <a:latin typeface="Calibri"/>
              </a:defRPr>
            </a:pPr>
            <a:r>
              <a:t>🐳  Deployed via Docker containers on ISSDC server clusters</a:t>
            </a:r>
            <a:br/>
            <a:r>
              <a:t>📦  CI/CD pipeline via GitHub Actions for continuous 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EVALUATION METRICS &amp;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Operational Performance Standards for Mission-Critical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F472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Formula</a:t>
                      </a:r>
                    </a:p>
                  </a:txBody>
                  <a:tcPr anchor="ctr">
                    <a:solidFill>
                      <a:srgbClr val="F472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 anchor="ctr">
                    <a:solidFill>
                      <a:srgbClr val="F472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F472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POD / TPR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TP / (TP + FN)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Ability to capture real flares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≥ 0.90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FAR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FP / (FP + TN)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Frequency of false alerts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≤ 0.20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TSS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TPR - FPR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Primary space weather benchmark (-1 to 1)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≥ 0.80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HSS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2(TP·TN - FP·FN) / ...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Improvement over random baseline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≥ 0.50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Lead Time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t_alert - t_peak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Warning buffer for operators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≥ 5 minutes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16"/>
                </a:solidFill>
                <a:latin typeface="Calibri"/>
              </a:defRPr>
            </a:pPr>
            <a:r>
              <a:t>STATE-OF-THE-ART BENCHMARKS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502920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E88D3"/>
                </a:solidFill>
                <a:latin typeface="Calibri"/>
              </a:defRPr>
            </a:pPr>
            <a:r>
              <a:t>SolarFlareNet (2023)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Transformer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983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C9A7"/>
                </a:solidFill>
                <a:latin typeface="Calibri"/>
              </a:defRPr>
            </a:pPr>
            <a:r>
              <a:t>TSS = 0.84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E88D3"/>
                </a:solidFill>
                <a:latin typeface="Calibri"/>
              </a:defRPr>
            </a:pPr>
            <a:r>
              <a:t>CNN-TCN (2025)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Hybrid temporal CNN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394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C9A7"/>
                </a:solidFill>
                <a:latin typeface="Calibri"/>
              </a:defRPr>
            </a:pPr>
            <a:r>
              <a:t>TSS = 0.85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E88D3"/>
                </a:solidFill>
                <a:latin typeface="Calibri"/>
              </a:defRPr>
            </a:pPr>
            <a:r>
              <a:t>LSTM+Decomposition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806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LSTM with signal decomp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806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C9A7"/>
                </a:solidFill>
                <a:latin typeface="Calibri"/>
              </a:defRPr>
            </a:pPr>
            <a:r>
              <a:t>TSS = 0.68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E88D3"/>
                </a:solidFill>
                <a:latin typeface="Calibri"/>
              </a:defRPr>
            </a:pPr>
            <a:r>
              <a:t>HOPE Manual (2024)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6217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Precursor-based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C9A7"/>
                </a:solidFill>
                <a:latin typeface="Calibri"/>
              </a:defRPr>
            </a:pPr>
            <a:r>
              <a:t>5–15 min lead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480560"/>
            <a:ext cx="5486400" cy="210312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572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B5CF6"/>
                </a:solidFill>
                <a:latin typeface="Calibri"/>
              </a:defRPr>
            </a:pPr>
            <a:r>
              <a:t>CONFUSION MATRIX FRAMEWORK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846320"/>
            <a:ext cx="4937760" cy="182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99999"/>
                </a:solidFill>
                <a:latin typeface="Calibr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046720" y="4983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Predicted: Flare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Predicted: No Flare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Actual: Flare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440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C9A7"/>
                </a:solidFill>
                <a:latin typeface="Calibri"/>
              </a:defRPr>
            </a:pPr>
            <a:r>
              <a:t>TP 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4444"/>
                </a:solidFill>
                <a:latin typeface="Calibri"/>
              </a:defRPr>
            </a:pPr>
            <a:r>
              <a:t>FN ❌ (CRITICAL)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897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Actual: No Flare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897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47216"/>
                </a:solidFill>
                <a:latin typeface="Calibri"/>
              </a:defRPr>
            </a:pPr>
            <a:r>
              <a:t>FP ⚠️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5897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C9A7"/>
                </a:solidFill>
                <a:latin typeface="Calibri"/>
              </a:defRPr>
            </a:pPr>
            <a:r>
              <a:t>TN 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Open-Source Tools &amp; Frameworks Powering the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520440" cy="23774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3520440" cy="4572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47216"/>
                </a:solidFill>
                <a:latin typeface="Calibri"/>
              </a:defRPr>
            </a:pPr>
            <a:r>
              <a:t>📥  DATA I/O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73352"/>
            <a:ext cx="301752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Python 3.11+ (core language)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57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Astropy — FITS parsing &amp; WCS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SunPy v6.x — solar data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0603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SolexsLOODS — ISRO toolkit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h5py — HDF5 file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requests — PRADAN API calls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234440"/>
            <a:ext cx="3520440" cy="23774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234440"/>
            <a:ext cx="3520440" cy="4572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371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E88D3"/>
                </a:solidFill>
                <a:latin typeface="Calibri"/>
              </a:defRPr>
            </a:pPr>
            <a:r>
              <a:t>📊  SIGNAL PROCESSING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1673352"/>
            <a:ext cx="3017520" cy="18288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783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NumPy — array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057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SciPy — convolutions &amp; 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331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Pandas — time-series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60603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statsmodels — baseline estimation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880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scikit-signal — QPP detection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234440"/>
            <a:ext cx="3520440" cy="23774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234440"/>
            <a:ext cx="3520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371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C9A7"/>
                </a:solidFill>
                <a:latin typeface="Calibri"/>
              </a:defRPr>
            </a:pPr>
            <a:r>
              <a:t>🧠  MACHINE LEARNING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673352"/>
            <a:ext cx="3017520" cy="182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783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TensorFlow 2.x / PyTorch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057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Optuna — hyperparameter tuning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331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imbalanced-learn — SMOTE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60603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Focal Loss implementation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880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ONNX — model portability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840480"/>
            <a:ext cx="3520440" cy="23774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3840480"/>
            <a:ext cx="352044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9776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B5CF6"/>
                </a:solidFill>
                <a:latin typeface="Calibri"/>
              </a:defRPr>
            </a:pPr>
            <a:r>
              <a:t>📈  VISUALIZATION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79392"/>
            <a:ext cx="3017520" cy="182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389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Streamlit / Dash — web framework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6634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Plotly — interactive charts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937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Bokeh — streaming renders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2120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Matplotlib — static plots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86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Seaborn — statistical plots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3840480"/>
            <a:ext cx="3520440" cy="23774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3400" y="3840480"/>
            <a:ext cx="3520440" cy="457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80" y="39776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4444"/>
                </a:solidFill>
                <a:latin typeface="Calibri"/>
              </a:defRPr>
            </a:pPr>
            <a:r>
              <a:t>🔧  DEVOPS &amp; DATABASE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26280" y="4279392"/>
            <a:ext cx="3017520" cy="18288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389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PostgreSQL — master catalogue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46634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Docker — containerization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0" y="4937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GitHub Actions — CI/CD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20" y="52120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Prometheus — monitoring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5486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FastAPI — REST endpoints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38160" y="3840480"/>
            <a:ext cx="3520440" cy="23774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38160" y="3840480"/>
            <a:ext cx="3520440" cy="457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39776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📋  EVALUATION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4279392"/>
            <a:ext cx="3017520" cy="18288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4389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scikit-learn — metrics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46634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NOAA SWPC — validation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4937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GOES XRS — ground truth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52120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MLflow — experiment tracking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5486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• Custom TSS/HSS calculators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EXPECTED OUTCOMES &amp;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Quantifiable Results &amp; Strategic Value Propositions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40680" cy="23774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54864" cy="237744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3716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7216"/>
                </a:solidFill>
                <a:latin typeface="Calibri"/>
              </a:defRPr>
            </a:pPr>
            <a:r>
              <a:t>AUTOMATED FLARE</a:t>
            </a:r>
            <a:br/>
            <a:r>
              <a:t>CATALOGUE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892808"/>
            <a:ext cx="484632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Indigenous database of nowcasted solar flares</a:t>
            </a:r>
            <a:br/>
            <a:r>
              <a:t>• Combined SXR + HXR master catalogue</a:t>
            </a:r>
            <a:br/>
            <a:r>
              <a:t>• PostgreSQL storage + JSON/CSV export</a:t>
            </a:r>
            <a:br/>
            <a:r>
              <a:t>• UTC timestamps, peak flux, GOES class</a:t>
            </a:r>
            <a:br/>
            <a:r>
              <a:t>• Spectral indices &amp; Neupert scores</a:t>
            </a:r>
            <a:br/>
            <a:r>
              <a:t>• First-of-its-kind from Indian mission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440680" cy="23774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54864" cy="237744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3716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E88D3"/>
                </a:solidFill>
                <a:latin typeface="Calibri"/>
              </a:defRPr>
            </a:pPr>
            <a:r>
              <a:t>TRAINED FORECASTING</a:t>
            </a:r>
            <a:br/>
            <a:r>
              <a:t>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892808"/>
            <a:ext cx="4846320" cy="18288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1D-CNN + BiLSTM + Transformer architecture</a:t>
            </a:r>
            <a:br/>
            <a:r>
              <a:t>• Quantifiable lead time ≥ 5 minutes</a:t>
            </a:r>
            <a:br/>
            <a:r>
              <a:t>• Multi-horizon probability outputs</a:t>
            </a:r>
            <a:br/>
            <a:r>
              <a:t>• Focal Loss for rare event sensitivity</a:t>
            </a:r>
            <a:br/>
            <a:r>
              <a:t>• ONNX-exportable for deployment</a:t>
            </a:r>
            <a:br/>
            <a:r>
              <a:t>• TSS ≥ 0.80 target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5440680" cy="23774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54864" cy="2377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77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9776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REAL-TIME</a:t>
            </a:r>
            <a:br/>
            <a:r>
              <a:t>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98848"/>
            <a:ext cx="4846320" cy="182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Live SXR + HXR light curve visualization</a:t>
            </a:r>
            <a:br/>
            <a:r>
              <a:t>• Flare alert badges with GOES class</a:t>
            </a:r>
            <a:br/>
            <a:r>
              <a:t>• HOPE precursor temperature panel</a:t>
            </a:r>
            <a:br/>
            <a:r>
              <a:t>• Probability bars (5/10/30 min horizons)</a:t>
            </a:r>
            <a:br/>
            <a:r>
              <a:t>• Streamlit/Dash web interface</a:t>
            </a:r>
            <a:br/>
            <a:r>
              <a:t>• Containerized Docker deployment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840480"/>
            <a:ext cx="5440680" cy="237744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840480"/>
            <a:ext cx="54864" cy="2377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9776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5CF6"/>
                </a:solidFill>
                <a:latin typeface="Calibri"/>
              </a:defRPr>
            </a:pPr>
            <a:r>
              <a:t>TECHNICAL</a:t>
            </a:r>
            <a:br/>
            <a:r>
              <a:t>DOCUMENTATION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498848"/>
            <a:ext cx="4846320" cy="182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6177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Comprehensive system architecture manual</a:t>
            </a:r>
            <a:br/>
            <a:r>
              <a:t>• Algorithm specification documents</a:t>
            </a:r>
            <a:br/>
            <a:r>
              <a:t>• API documentation (FastAPI endpoints)</a:t>
            </a:r>
            <a:br/>
            <a:r>
              <a:t>• Peer-review-ready manuscripts</a:t>
            </a:r>
            <a:br/>
            <a:r>
              <a:t>• User training guides</a:t>
            </a:r>
            <a:br/>
            <a:r>
              <a:t>• Reproducible deployment playbooks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15-Week Phased Execution Plan with Key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2148840" cy="493776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148840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4721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Weeks 1–3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PREPROCESSING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77440"/>
            <a:ext cx="1874519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PRADAN portal 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7296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SoLEXS + HEL1OS FITS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31336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Astropy FITS parsing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89704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HYPERMET calibration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48072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GOES ground-truth label matching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1234440"/>
            <a:ext cx="2148840" cy="493776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80" y="1234440"/>
            <a:ext cx="2148840" cy="54864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E88D3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1600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Weeks 4–6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NOWCASTING</a:t>
            </a:r>
            <a:br/>
            <a:r>
              <a:t>ALGORITHM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377440"/>
            <a:ext cx="1874519" cy="18288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5146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Sliding σ-threshold onset detector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17296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SXR derivative vs HXR Neupert validator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831336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Unified SXR+HXR Master Catalogue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489704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Validation against NOAA flare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148072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Performance benchmarking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1234440"/>
            <a:ext cx="2148840" cy="493776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1234440"/>
            <a:ext cx="21488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C9A7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1600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Weeks 7–10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18288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FORECASTING</a:t>
            </a:r>
            <a:br/>
            <a:r>
              <a:t>MODEL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66360" y="2377440"/>
            <a:ext cx="1874519" cy="182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66360" y="25146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Feature engineering (T, EM, ratios)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317296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HOPE precursor trigger encoding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3831336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1D-CNN+BiLSTM+Transformer 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4489704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Focal Loss + SMOTE implementation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5148072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Hyperparameter tuning (Optuna)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60919" y="1234440"/>
            <a:ext cx="2148840" cy="493776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60919" y="1234440"/>
            <a:ext cx="214884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59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59" y="1600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Weeks 11–13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59" y="18288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DASHBOARD &amp;</a:t>
            </a:r>
            <a:br/>
            <a:r>
              <a:t>INTEGRATION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2377440"/>
            <a:ext cx="1874519" cy="182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79" y="25146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Streamlit/Dash GUI development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317296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Live streaming data wiring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3831336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Visual/audio alert triggers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4489704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End-to-end inference pipeline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5148072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Docker containerization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92640" y="1234440"/>
            <a:ext cx="2148840" cy="493776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92640" y="1234440"/>
            <a:ext cx="2148840" cy="54864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4444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1600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Weeks 14–15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18288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REPORTING &amp;</a:t>
            </a:r>
            <a:br/>
            <a:r>
              <a:t>DELIVERY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29800" y="2377440"/>
            <a:ext cx="1874519" cy="18288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29800" y="25146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Database catalogue export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317296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Technical documentation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9800" y="3831336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Peer-review manuscripts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4489704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User training materials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29800" y="5148072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r>
              <a:t>✓ Final system handover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6309360"/>
            <a:ext cx="11064240" cy="27432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W1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4592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W3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464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W4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2336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W6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208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W7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W10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952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W11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7824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W13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6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W14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W15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 SOURCES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Complete Reference of All Datasets, Portals &amp; Research Papers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3444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F472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URL / Reference</a:t>
                      </a:r>
                    </a:p>
                  </a:txBody>
                  <a:tcPr anchor="ctr">
                    <a:solidFill>
                      <a:srgbClr val="F472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F4721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ISRO PRADAN Portal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pradan.issdc.gov.in/al1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SoLEXS + HEL1OS Level-1 FITS data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ISSDC Main Archive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issdc.gov.in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ISRO science data archive; bulk download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GOES/XRS (NOAA)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ngdc.noaa.gov/stp/satellite/goes/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Ground-truth SXR labels since 1975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RHESSI Catalogue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hesperia.gsfc.nasa.gov/rhessi3/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HXR flare imaging catalogue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Fermi/GBM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hesperia.gsfc.nasa.gov/fermi/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Gamma-ray burst monitor solar data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SDO Data Archive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sdo.gsfc.nasa.gov/data/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EUV imagery + magnetograms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NOAA SWPC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swpc.noaa.gov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Real-time space weather alerts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SunPy Library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docs.sunpy.org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Python APIs for solar data access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NJIT Solar Flares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solarflare.njit.edu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Academic solar flare research portal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SoLEXS Paper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arxiv.org/abs/2509.26292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Ground calibration &amp; in-flight performance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E88D3"/>
                          </a:solidFill>
                          <a:latin typeface="Calibri"/>
                        </a:defRPr>
                      </a:pPr>
                      <a:r>
                        <a:t>HEL1OS Paper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arxiv.org/abs/2512.12679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Hard X-ray spectrometer architecture</a:t>
                      </a:r>
                    </a:p>
                  </a:txBody>
                  <a:tcPr anchor="ctr">
                    <a:solidFill>
                      <a:srgbClr val="101C3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502920" cy="502920"/>
          </a:xfrm>
          <a:prstGeom prst="round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STRATEGIC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7216"/>
                </a:solidFill>
                <a:latin typeface="Calibri"/>
              </a:defRPr>
            </a:pPr>
            <a:r>
              <a:t>Sovereign Capability &amp; Future Impact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40680" cy="13716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🛰️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325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7216"/>
                </a:solidFill>
                <a:latin typeface="Calibri"/>
              </a:defRPr>
            </a:pPr>
            <a:r>
              <a:t>Sovereign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First indigenous solar flare catalogue derived entirely from an Indian space mission — establishing data sovereignty in space weather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440680" cy="13716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54864" cy="1371600"/>
          </a:xfrm>
          <a:prstGeom prst="rect">
            <a:avLst/>
          </a:prstGeom>
          <a:solidFill>
            <a:srgbClr val="0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325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E88D3"/>
                </a:solidFill>
                <a:latin typeface="Calibri"/>
              </a:defRPr>
            </a:pPr>
            <a:r>
              <a:t>Dual-Band Synergy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6459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SoLEXS (thermal) + HEL1OS (non-thermal) synergy captures the complete flare lifecycle, enabling Neupert Effect cross-validation to eliminate false alarms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88920"/>
            <a:ext cx="5440680" cy="13716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88920"/>
            <a:ext cx="54864" cy="1371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880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Physics-Driven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200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HOPE precursor technique provides 5–15 minute physics-based early warning — extracted from real-time plasma temperature and emission measure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788920"/>
            <a:ext cx="5440680" cy="13716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788920"/>
            <a:ext cx="54864" cy="1371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880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5CF6"/>
                </a:solidFill>
                <a:latin typeface="Calibri"/>
              </a:defRPr>
            </a:pPr>
            <a:r>
              <a:t>AI-Powered Forecasting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200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Transformer self-attention architecture exceeds traditional LSTM limitations, targeting TSS ≥ 0.80 and FAR ≤ 0.20 for mission-critical reliability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43400"/>
            <a:ext cx="5440680" cy="13716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343400"/>
            <a:ext cx="54864" cy="137160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434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4444"/>
                </a:solidFill>
                <a:latin typeface="Calibri"/>
              </a:defRPr>
            </a:pPr>
            <a:r>
              <a:t>Infrastructure Protection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7548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Provides satellite operators, aviation authorities, and power grid managers the vital temporal buffer to protect 50+ critical national space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343400"/>
            <a:ext cx="5440680" cy="1371600"/>
          </a:xfrm>
          <a:prstGeom prst="roundRect">
            <a:avLst/>
          </a:prstGeom>
          <a:solidFill>
            <a:srgbClr val="14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343400"/>
            <a:ext cx="54864" cy="13716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34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Scalable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548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Containerized, open-source pipeline deployable on ISSDC infrastructure — designed for continuous operation throughout Solar Cycle 25 and beyond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97880"/>
            <a:ext cx="11064240" cy="777240"/>
          </a:xfrm>
          <a:prstGeom prst="roundRect">
            <a:avLst/>
          </a:prstGeom>
          <a:solidFill>
            <a:srgbClr val="0E3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16"/>
                </a:solidFill>
                <a:latin typeface="Calibri"/>
              </a:defRPr>
            </a:pPr>
            <a:r>
              <a:t>5–15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236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Calibri"/>
              </a:defRPr>
            </a:pPr>
            <a:r>
              <a:t>Prediction</a:t>
            </a:r>
            <a:br/>
            <a:r>
              <a:t>Lead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4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16"/>
                </a:solidFill>
                <a:latin typeface="Calibri"/>
              </a:defRPr>
            </a:pPr>
            <a:r>
              <a:t>1–150 keV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40" y="6236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Calibri"/>
              </a:defRPr>
            </a:pPr>
            <a:r>
              <a:t>Energy</a:t>
            </a:r>
            <a:br/>
            <a:r>
              <a:t>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16"/>
                </a:solidFill>
                <a:latin typeface="Calibri"/>
              </a:defRPr>
            </a:pPr>
            <a:r>
              <a:t>TSS ≥ 0.80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6236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Calibri"/>
              </a:defRPr>
            </a:pPr>
            <a:r>
              <a:t>Skill Score</a:t>
            </a:r>
            <a:br/>
            <a:r>
              <a:t>Target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16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6236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Calibri"/>
              </a:defRPr>
            </a:pPr>
            <a:r>
              <a:t>Continuous</a:t>
            </a:r>
            <a:br/>
            <a:r>
              <a:t>Monitoring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16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6236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Calibri"/>
              </a:defRPr>
            </a:pPr>
            <a:r>
              <a:t>Satellites</a:t>
            </a:r>
            <a:br/>
            <a:r>
              <a:t>Protected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spcAft>
                <a:spcPts val="2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Sovereign Space Weather</a:t>
            </a:r>
          </a:p>
          <a:p>
            <a:pPr algn="ctr">
              <a:lnSpc>
                <a:spcPts val="5200"/>
              </a:lnSpc>
              <a:spcAft>
                <a:spcPts val="200"/>
              </a:spcAft>
              <a:defRPr sz="4000" b="1">
                <a:solidFill>
                  <a:srgbClr val="F47216"/>
                </a:solidFill>
                <a:latin typeface="Calibri"/>
              </a:defRPr>
            </a:pPr>
            <a:r>
              <a:t>Resilience</a:t>
            </a:r>
          </a:p>
          <a:p>
            <a:pPr algn="ctr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340"/>
              </a:lnSpc>
              <a:spcAft>
                <a:spcPts val="2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Protecting India's Critical Space &amp; Terrestrial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74720"/>
            <a:ext cx="3931920" cy="27432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C107"/>
                </a:solidFill>
                <a:latin typeface="Calibri"/>
              </a:defRPr>
            </a:pPr>
            <a:r>
              <a:t>From Reactive Monitoring → Predictive, Automated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200"/>
              </a:spcAft>
              <a:defRPr sz="1400" b="1">
                <a:solidFill>
                  <a:srgbClr val="0E88D3"/>
                </a:solidFill>
                <a:latin typeface="Calibri"/>
              </a:defRPr>
            </a:pPr>
            <a:r>
              <a:t>Indian Space Research Organisation</a:t>
            </a:r>
          </a:p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Department of Space  •  Government of India</a:t>
            </a:r>
          </a:p>
          <a:p>
            <a:pPr algn="ctr"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1650"/>
              </a:lnSpc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Aditya-L1 Mission  •  SoLEXS + HEL1OS Payloads</a:t>
            </a:r>
          </a:p>
          <a:p>
            <a:pPr algn="ctr">
              <a:lnSpc>
                <a:spcPts val="1650"/>
              </a:lnSpc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Problem Statement 15  •  Solar Flare Nowcasting &amp;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Data Portal: pradan.issdc.gov.in/al1  |  Archive: issdc.gov.in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